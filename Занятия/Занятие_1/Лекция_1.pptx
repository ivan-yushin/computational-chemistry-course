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Montserrat"/>
      <p:regular r:id="rId11"/>
      <p:bold r:id="rId12"/>
      <p:italic r:id="rId13"/>
      <p:boldItalic r:id="rId14"/>
    </p:embeddedFont>
    <p:embeddedFont>
      <p:font typeface="Montserrat Medium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regular.fntdata"/><Relationship Id="rId10" Type="http://schemas.openxmlformats.org/officeDocument/2006/relationships/slide" Target="slides/slide5.xml"/><Relationship Id="rId13" Type="http://schemas.openxmlformats.org/officeDocument/2006/relationships/font" Target="fonts/Montserrat-italic.fntdata"/><Relationship Id="rId12" Type="http://schemas.openxmlformats.org/officeDocument/2006/relationships/font" Target="fonts/Montserra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Medium-regular.fntdata"/><Relationship Id="rId14" Type="http://schemas.openxmlformats.org/officeDocument/2006/relationships/font" Target="fonts/Montserrat-boldItalic.fntdata"/><Relationship Id="rId17" Type="http://schemas.openxmlformats.org/officeDocument/2006/relationships/font" Target="fonts/MontserratMedium-italic.fntdata"/><Relationship Id="rId16" Type="http://schemas.openxmlformats.org/officeDocument/2006/relationships/font" Target="fonts/MontserratMedium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MontserratMedium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579d025f6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579d025f6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79d025f6d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79d025f6d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7ff35d54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7ff35d5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579d025f6d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579d025f6d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579d025f6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579d025f6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993600" y="1833000"/>
            <a:ext cx="46956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Спецкурс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Современные методы вычислительной химии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-19750" y="6550"/>
            <a:ext cx="3109200" cy="5143500"/>
          </a:xfrm>
          <a:prstGeom prst="rect">
            <a:avLst/>
          </a:prstGeom>
          <a:solidFill>
            <a:srgbClr val="8E7CC3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77500" y="216425"/>
            <a:ext cx="8754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 Medium"/>
                <a:ea typeface="Montserrat Medium"/>
                <a:cs typeface="Montserrat Medium"/>
                <a:sym typeface="Montserrat Medium"/>
              </a:rPr>
              <a:t>0</a:t>
            </a:r>
            <a:r>
              <a:rPr lang="ru">
                <a:latin typeface="Montserrat Medium"/>
                <a:ea typeface="Montserrat Medium"/>
                <a:cs typeface="Montserrat Medium"/>
                <a:sym typeface="Montserrat Medium"/>
              </a:rPr>
              <a:t>. Введение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61" name="Google Shape;61;p14"/>
          <p:cNvCxnSpPr/>
          <p:nvPr/>
        </p:nvCxnSpPr>
        <p:spPr>
          <a:xfrm>
            <a:off x="0" y="787800"/>
            <a:ext cx="2600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" name="Google Shape;62;p14"/>
          <p:cNvCxnSpPr/>
          <p:nvPr/>
        </p:nvCxnSpPr>
        <p:spPr>
          <a:xfrm>
            <a:off x="0" y="4853775"/>
            <a:ext cx="2600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" name="Google Shape;63;p14"/>
          <p:cNvSpPr txBox="1"/>
          <p:nvPr/>
        </p:nvSpPr>
        <p:spPr>
          <a:xfrm>
            <a:off x="0" y="4831200"/>
            <a:ext cx="42684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Лекция 1. Современные методы выч. химии. Осень 2025</a:t>
            </a:r>
            <a:endParaRPr sz="1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8649077" y="4831200"/>
            <a:ext cx="4182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02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‹#›</a:t>
            </a:fld>
            <a:endParaRPr sz="1025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77500" y="216425"/>
            <a:ext cx="8754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 Medium"/>
                <a:ea typeface="Montserrat Medium"/>
                <a:cs typeface="Montserrat Medium"/>
                <a:sym typeface="Montserrat Medium"/>
              </a:rPr>
              <a:t>0. Введение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70" name="Google Shape;70;p15"/>
          <p:cNvCxnSpPr/>
          <p:nvPr/>
        </p:nvCxnSpPr>
        <p:spPr>
          <a:xfrm>
            <a:off x="0" y="787800"/>
            <a:ext cx="2600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" name="Google Shape;71;p15"/>
          <p:cNvCxnSpPr/>
          <p:nvPr/>
        </p:nvCxnSpPr>
        <p:spPr>
          <a:xfrm>
            <a:off x="0" y="4853775"/>
            <a:ext cx="2600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" name="Google Shape;72;p15"/>
          <p:cNvSpPr txBox="1"/>
          <p:nvPr/>
        </p:nvSpPr>
        <p:spPr>
          <a:xfrm>
            <a:off x="0" y="4831200"/>
            <a:ext cx="42684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Лекция 1. Современные методы выч. химии. Осень 202N</a:t>
            </a:r>
            <a:endParaRPr sz="1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8649077" y="4831200"/>
            <a:ext cx="4182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02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‹#›</a:t>
            </a:fld>
            <a:endParaRPr sz="1025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4747275" y="1262250"/>
            <a:ext cx="4320000" cy="3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Построение моделей 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Montserrat Medium"/>
              <a:buChar char="●"/>
            </a:pP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Интерпретация экспериментальных данных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Montserrat Medium"/>
              <a:buChar char="●"/>
            </a:pP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Предсказания свойств</a:t>
            </a:r>
            <a:endParaRPr sz="1800"/>
          </a:p>
        </p:txBody>
      </p:sp>
      <p:sp>
        <p:nvSpPr>
          <p:cNvPr id="75" name="Google Shape;75;p15"/>
          <p:cNvSpPr txBox="1"/>
          <p:nvPr/>
        </p:nvSpPr>
        <p:spPr>
          <a:xfrm>
            <a:off x="77500" y="1214850"/>
            <a:ext cx="4320000" cy="33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Обработка и анализ данных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Montserrat Medium"/>
              <a:buChar char="●"/>
            </a:pP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Обработка экспериментальных данных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Montserrat Medium"/>
              <a:buChar char="●"/>
            </a:pP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Аппроксимация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Montserrat Medium"/>
              <a:buChar char="●"/>
            </a:pP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Визуализация данных 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Montserrat Medium"/>
              <a:buChar char="●"/>
            </a:pPr>
            <a:r>
              <a:t/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77500" y="216425"/>
            <a:ext cx="8754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 Medium"/>
                <a:ea typeface="Montserrat Medium"/>
                <a:cs typeface="Montserrat Medium"/>
                <a:sym typeface="Montserrat Medium"/>
              </a:rPr>
              <a:t>1. Введение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81" name="Google Shape;81;p16"/>
          <p:cNvCxnSpPr/>
          <p:nvPr/>
        </p:nvCxnSpPr>
        <p:spPr>
          <a:xfrm>
            <a:off x="0" y="787800"/>
            <a:ext cx="2600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" name="Google Shape;82;p16"/>
          <p:cNvCxnSpPr/>
          <p:nvPr/>
        </p:nvCxnSpPr>
        <p:spPr>
          <a:xfrm>
            <a:off x="0" y="4853775"/>
            <a:ext cx="2600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" name="Google Shape;83;p16"/>
          <p:cNvSpPr txBox="1"/>
          <p:nvPr/>
        </p:nvSpPr>
        <p:spPr>
          <a:xfrm>
            <a:off x="0" y="4831200"/>
            <a:ext cx="42684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Лекция 1. Современные методы выч. химии. Осень 2025</a:t>
            </a:r>
            <a:endParaRPr sz="1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8649077" y="4831200"/>
            <a:ext cx="4182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02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‹#›</a:t>
            </a:fld>
            <a:endParaRPr sz="1025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77500" y="216425"/>
            <a:ext cx="8754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 Medium"/>
                <a:ea typeface="Montserrat Medium"/>
                <a:cs typeface="Montserrat Medium"/>
                <a:sym typeface="Montserrat Medium"/>
              </a:rPr>
              <a:t>1. Google Colab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90" name="Google Shape;90;p17"/>
          <p:cNvCxnSpPr/>
          <p:nvPr/>
        </p:nvCxnSpPr>
        <p:spPr>
          <a:xfrm>
            <a:off x="0" y="787800"/>
            <a:ext cx="2600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" name="Google Shape;91;p17"/>
          <p:cNvCxnSpPr/>
          <p:nvPr/>
        </p:nvCxnSpPr>
        <p:spPr>
          <a:xfrm>
            <a:off x="0" y="4853775"/>
            <a:ext cx="2600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" name="Google Shape;92;p17"/>
          <p:cNvSpPr txBox="1"/>
          <p:nvPr/>
        </p:nvSpPr>
        <p:spPr>
          <a:xfrm>
            <a:off x="0" y="4831200"/>
            <a:ext cx="42684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Лекция 1. Современные методы выч. химии. Осень 2025</a:t>
            </a:r>
            <a:endParaRPr sz="1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3" name="Google Shape;93;p17"/>
          <p:cNvSpPr txBox="1"/>
          <p:nvPr/>
        </p:nvSpPr>
        <p:spPr>
          <a:xfrm>
            <a:off x="8649077" y="4831200"/>
            <a:ext cx="4182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02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‹#›</a:t>
            </a:fld>
            <a:endParaRPr sz="1025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00" y="858600"/>
            <a:ext cx="5454124" cy="2665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